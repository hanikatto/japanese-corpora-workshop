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l" defTabSz="825500" rtl="0" fontAlgn="auto" latinLnBrk="0" hangingPunct="0">
      <a:lnSpc>
        <a:spcPct val="100000"/>
      </a:lnSpc>
      <a:spcBef>
        <a:spcPts val="59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 b="def" i="def"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3" Type="http://schemas.openxmlformats.org/officeDocument/2006/relationships/hyperlink" Target="https://colab.research.google.com/drive/1GLCJdlbzo3N32_-1_GLlukQY1Iim43Su?usp=sharing" TargetMode="Externa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" name="Shape 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What are we gonna do?</a:t>
            </a:r>
          </a:p>
          <a:p>
            <a:pPr/>
          </a:p>
          <a:p>
            <a:pPr/>
            <a:r>
              <a:t>Who is this workshop for?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3" name="Shape 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When you log in to Chunagon, you’ll see a screen like this. Look at all of the corpora available! Some of these you will notice that I do not have access to because I did not sign up for them.</a:t>
            </a:r>
          </a:p>
          <a:p>
            <a:pPr/>
          </a:p>
          <a:p>
            <a:pPr/>
            <a:r>
              <a:t>Today, we will use the CEJC.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0" name="Shape 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 me, the SMS did not work; nothing came through.</a:t>
            </a:r>
          </a:p>
          <a:p>
            <a:pPr/>
            <a:r>
              <a:t>So I contacted them and they used email to help me get access. 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After you’ve successfully logged in, you will see this page. At the top is the KOTONAHA search bar. You can use this to [READ POINT 1]</a:t>
            </a:r>
          </a:p>
          <a:p>
            <a:pPr/>
          </a:p>
          <a:p>
            <a:pPr/>
            <a:r>
              <a:t>Let’s try a few terms: [車], [パソコン], [漢字], and now a hard one: [ロクロ]（語彙素読み）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0" name="Shape 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first term should go fine, but the next two should not. [Why did you have problems with these two and not with the first one?] → (Because パソコン is one lemma but である and かっこいい are technically two lemmas.)</a:t>
            </a:r>
          </a:p>
          <a:p>
            <a:pPr/>
          </a:p>
          <a:p>
            <a:pPr/>
            <a:r>
              <a:t>Use this time to explore some of the features of the results page for パソコン. </a:t>
            </a:r>
          </a:p>
          <a:p>
            <a:pPr marL="291041" indent="-291041">
              <a:buSzPct val="125000"/>
              <a:buChar char="•"/>
            </a:pPr>
            <a:r>
              <a:t>Change the 文脈中の区切り記号 to なし and re-run the search. Highlight the difference</a:t>
            </a:r>
          </a:p>
          <a:p>
            <a:pPr marL="291041" indent="-291041">
              <a:buSzPct val="125000"/>
              <a:buChar char="•"/>
            </a:pPr>
            <a:r>
              <a:t>Change the 文脈中の発話単位区切り記号 and re-run. Highlight the difference</a:t>
            </a:r>
          </a:p>
          <a:p>
            <a:pPr marL="291041" indent="-291041">
              <a:buSzPct val="125000"/>
              <a:buChar char="•"/>
            </a:pPr>
            <a:r>
              <a:t>Specify 検索対象 and indicate how important it is for research, especially spontaneous speech</a:t>
            </a:r>
          </a:p>
          <a:p>
            <a:pPr marL="291041" indent="-291041">
              <a:buSzPct val="125000"/>
              <a:buChar char="•"/>
            </a:pPr>
            <a:r>
              <a:t>Play some audio as an example</a:t>
            </a:r>
          </a:p>
          <a:p>
            <a:pPr marL="291041" indent="-291041">
              <a:buSzPct val="125000"/>
              <a:buChar char="•"/>
            </a:pPr>
            <a:r>
              <a:t>Show how to export and highlight the options for export</a:t>
            </a:r>
          </a:p>
          <a:p>
            <a:pPr marL="291041" indent="-291041">
              <a:buSzPct val="125000"/>
              <a:buChar char="•"/>
            </a:pPr>
            <a:r>
              <a:t>Mess with some other settings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7" name="Shape 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Let’s talk about these guys. Multi-lemma expressions can be done either in 短単位検索 OR 長単位検索. 長単位検索 is probably easier, but let’s see how to do it using 短単位検索 first.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4" name="Shape 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Here’s the first one.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And here’s the second one.</a:t>
            </a:r>
          </a:p>
          <a:p>
            <a:pPr marL="291041" indent="-291041">
              <a:buSzPct val="125000"/>
              <a:buChar char="•"/>
            </a:pPr>
            <a:r>
              <a:t>This is really great if you want to focus on a particular lemma with certain conditions for surrounding words or affixes.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4" name="Shape 1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For よくない, use the following setting: 語彙素[良い] AND 活用形／小分類[連用形-一般] with 書字形出現形[ない].</a:t>
            </a:r>
          </a:p>
          <a:p>
            <a:pPr/>
          </a:p>
          <a:p>
            <a:pPr/>
            <a:r>
              <a:t>For 良ければ, use the following setting: 語彙素[良い] AND 活用形／小分類[仮定形-一般].</a:t>
            </a:r>
          </a:p>
          <a:p>
            <a:pPr/>
          </a:p>
          <a:p>
            <a:pPr/>
            <a:r>
              <a:t>For expressions on the right side, the answers are given in the cheat sheet.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0" name="Shape 12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407458" indent="-407458">
              <a:buSzPct val="100000"/>
              <a:buAutoNum type="arabicPeriod" startAt="1"/>
            </a:pPr>
            <a:r>
              <a:t>First, we need to adjust the 検索対象 to reflect only idle chit-chat which often reflect spontaneous speech.</a:t>
            </a:r>
          </a:p>
          <a:p>
            <a:pPr marL="407458" indent="-407458">
              <a:buSzPct val="100000"/>
              <a:buAutoNum type="arabicPeriod" startAt="1"/>
            </a:pPr>
            <a:r>
              <a:t>Then we have to make sure we’re getting the right じゃ.</a:t>
            </a:r>
          </a:p>
          <a:p>
            <a:pPr marL="407458" indent="-407458">
              <a:buSzPct val="100000"/>
              <a:buAutoNum type="arabicPeriod" startAt="1"/>
            </a:pPr>
            <a:r>
              <a:t>Then we need to make sure our token delimiter and utterance boundary symbols are set. </a:t>
            </a:r>
          </a:p>
          <a:p>
            <a:pPr marL="407458" indent="-407458">
              <a:buSzPct val="100000"/>
              <a:buAutoNum type="arabicPeriod" startAt="1"/>
            </a:pPr>
            <a:r>
              <a:t>Then we can export the file and run Python code on it to help answer our question. I will provide the Python code for you!</a:t>
            </a:r>
          </a:p>
          <a:p>
            <a:pPr/>
          </a:p>
          <a:p>
            <a:pPr/>
            <a:r>
              <a:t>Let’s go to Chunagon and make our necessary adjustments.</a:t>
            </a:r>
          </a:p>
          <a:p>
            <a:pPr/>
          </a:p>
          <a:p>
            <a:pPr/>
            <a:r>
              <a:t>To find the code to analyze bigram and trigram collocations, go to this link: </a:t>
            </a:r>
            <a:r>
              <a:rPr u="sng">
                <a:hlinkClick r:id="rId3" invalidUrl="" action="" tgtFrame="" tooltip="" history="1" highlightClick="0" endSnd="0"/>
              </a:rPr>
              <a:t>https://colab.research.google.com/drive/1GLCJdlbzo3N32_-1_GLlukQY1Iim43Su?usp=sharing</a:t>
            </a:r>
            <a:r>
              <a:t> 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le"/>
          <p:cNvSpPr/>
          <p:nvPr/>
        </p:nvSpPr>
        <p:spPr>
          <a:xfrm>
            <a:off x="1101296" y="301608"/>
            <a:ext cx="1542390" cy="1542389"/>
          </a:xfrm>
          <a:prstGeom prst="ellipse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3" name="Circle"/>
          <p:cNvSpPr/>
          <p:nvPr/>
        </p:nvSpPr>
        <p:spPr>
          <a:xfrm>
            <a:off x="2109333" y="301608"/>
            <a:ext cx="1542390" cy="1542389"/>
          </a:xfrm>
          <a:prstGeom prst="ellipse">
            <a:avLst/>
          </a:prstGeom>
          <a:solidFill>
            <a:schemeClr val="accent5">
              <a:hueOff val="-82419"/>
              <a:satOff val="-9513"/>
              <a:lumOff val="-16343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4" name="Circle"/>
          <p:cNvSpPr/>
          <p:nvPr/>
        </p:nvSpPr>
        <p:spPr>
          <a:xfrm>
            <a:off x="3169196" y="301608"/>
            <a:ext cx="1542390" cy="1542389"/>
          </a:xfrm>
          <a:prstGeom prst="ellipse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5" name="Shape"/>
          <p:cNvSpPr/>
          <p:nvPr/>
        </p:nvSpPr>
        <p:spPr>
          <a:xfrm>
            <a:off x="-393029" y="1040428"/>
            <a:ext cx="25170058" cy="122450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20250" y="21600"/>
                </a:lnTo>
                <a:cubicBezTo>
                  <a:pt x="20111" y="21122"/>
                  <a:pt x="19862" y="20825"/>
                  <a:pt x="19591" y="20814"/>
                </a:cubicBezTo>
                <a:cubicBezTo>
                  <a:pt x="19309" y="20803"/>
                  <a:pt x="19045" y="21103"/>
                  <a:pt x="18900" y="21600"/>
                </a:cubicBezTo>
                <a:cubicBezTo>
                  <a:pt x="18000" y="21600"/>
                  <a:pt x="17100" y="21600"/>
                  <a:pt x="16200" y="21600"/>
                </a:cubicBezTo>
                <a:cubicBezTo>
                  <a:pt x="14400" y="21600"/>
                  <a:pt x="12600" y="21600"/>
                  <a:pt x="10800" y="21600"/>
                </a:cubicBezTo>
                <a:cubicBezTo>
                  <a:pt x="7200" y="21600"/>
                  <a:pt x="3600" y="21600"/>
                  <a:pt x="0" y="2160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190500" dist="0" dir="5400000">
              <a:srgbClr val="000000">
                <a:alpha val="80394"/>
              </a:srgbClr>
            </a:outerShdw>
          </a:effectLst>
        </p:spPr>
        <p:txBody>
          <a:bodyPr lIns="0" tIns="0" rIns="0" bIns="0" anchor="ctr"/>
          <a:lstStyle/>
          <a:p>
            <a:pPr algn="ctr">
              <a:spcBef>
                <a:spcPts val="0"/>
              </a:spcBef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21650236" y="13015962"/>
            <a:ext cx="1542390" cy="58552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spAutoFit/>
          </a:bodyPr>
          <a:lstStyle>
            <a:lvl1pPr algn="ctr">
              <a:spcBef>
                <a:spcPts val="0"/>
              </a:spcBef>
              <a:defRPr sz="3200">
                <a:solidFill>
                  <a:srgbClr val="FFFFFF"/>
                </a:solidFill>
                <a:latin typeface="Helvetica Neue Bold Condensed"/>
                <a:ea typeface="Helvetica Neue Bold Condensed"/>
                <a:cs typeface="Helvetica Neue Bold Condensed"/>
                <a:sym typeface="Helvetica Neue Bold Condensed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7" name="Title Text"/>
          <p:cNvSpPr txBox="1"/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8" name="Body Level One…"/>
          <p:cNvSpPr txBox="1"/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Helvetica Neue Bold Condensed"/>
        </a:defRPr>
      </a:lvl1pPr>
      <a:lvl2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Helvetica Neue Bold Condensed"/>
        </a:defRPr>
      </a:lvl2pPr>
      <a:lvl3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Helvetica Neue Bold Condensed"/>
        </a:defRPr>
      </a:lvl3pPr>
      <a:lvl4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Helvetica Neue Bold Condensed"/>
        </a:defRPr>
      </a:lvl4pPr>
      <a:lvl5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Helvetica Neue Bold Condensed"/>
        </a:defRPr>
      </a:lvl5pPr>
      <a:lvl6pPr marL="0" marR="0" indent="2286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Helvetica Neue Bold Condensed"/>
        </a:defRPr>
      </a:lvl6pPr>
      <a:lvl7pPr marL="0" marR="0" indent="2743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Helvetica Neue Bold Condensed"/>
        </a:defRPr>
      </a:lvl7pPr>
      <a:lvl8pPr marL="0" marR="0" indent="3200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Helvetica Neue Bold Condensed"/>
        </a:defRPr>
      </a:lvl8pPr>
      <a:lvl9pPr marL="0" marR="0" indent="3657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Helvetica Neue Bold Condensed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5" name="Getting Started with Japanese Corpora via NINJAL"/>
          <p:cNvSpPr txBox="1"/>
          <p:nvPr/>
        </p:nvSpPr>
        <p:spPr>
          <a:xfrm>
            <a:off x="1978202" y="3947990"/>
            <a:ext cx="20427595" cy="351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>
              <a:spcBef>
                <a:spcPts val="0"/>
              </a:spcBef>
              <a:defRPr sz="11200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1">
                        <a:lumOff val="-13575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/>
            <a:r>
              <a:t>Getting Started with Japanese Corpora via NINJAL</a:t>
            </a:r>
          </a:p>
        </p:txBody>
      </p:sp>
      <p:sp>
        <p:nvSpPr>
          <p:cNvPr id="26" name="David Honeycutt"/>
          <p:cNvSpPr txBox="1"/>
          <p:nvPr/>
        </p:nvSpPr>
        <p:spPr>
          <a:xfrm>
            <a:off x="3498003" y="9566723"/>
            <a:ext cx="4659631" cy="845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pc="100" sz="5000">
                <a:solidFill>
                  <a:srgbClr val="5E5E5E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David Honeycutt</a:t>
            </a:r>
          </a:p>
        </p:txBody>
      </p:sp>
      <p:pic>
        <p:nvPicPr>
          <p:cNvPr id="27" name="sls-main-logo2.svg" descr="sls-main-logo2.svg"/>
          <p:cNvPicPr>
            <a:picLocks noChangeAspect="1"/>
          </p:cNvPicPr>
          <p:nvPr/>
        </p:nvPicPr>
        <p:blipFill>
          <a:blip r:embed="rId2">
            <a:extLst/>
          </a:blip>
          <a:srcRect l="0" t="0" r="36159" b="0"/>
          <a:stretch>
            <a:fillRect/>
          </a:stretch>
        </p:blipFill>
        <p:spPr>
          <a:xfrm>
            <a:off x="9673880" y="9325143"/>
            <a:ext cx="11211936" cy="1328246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Line"/>
          <p:cNvSpPr/>
          <p:nvPr/>
        </p:nvSpPr>
        <p:spPr>
          <a:xfrm flipV="1">
            <a:off x="8907184" y="8870700"/>
            <a:ext cx="1" cy="2237228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1" name="Goals"/>
          <p:cNvSpPr txBox="1"/>
          <p:nvPr/>
        </p:nvSpPr>
        <p:spPr>
          <a:xfrm>
            <a:off x="1029618" y="1604762"/>
            <a:ext cx="2426018" cy="122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Goals</a:t>
            </a:r>
          </a:p>
        </p:txBody>
      </p:sp>
      <p:sp>
        <p:nvSpPr>
          <p:cNvPr id="32" name="By the end of this workshop, you can run basic → advanced searches and export results for frequency + n-gram analysis."/>
          <p:cNvSpPr txBox="1"/>
          <p:nvPr/>
        </p:nvSpPr>
        <p:spPr>
          <a:xfrm>
            <a:off x="1726002" y="3344241"/>
            <a:ext cx="15474661" cy="263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914400" indent="-914400">
              <a:buSzPct val="125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By the end of this workshop, you can run basic → advanced searches and export results for frequency + n-gram analysis.</a:t>
            </a:r>
          </a:p>
        </p:txBody>
      </p:sp>
      <p:sp>
        <p:nvSpPr>
          <p:cNvPr id="33" name="Audience"/>
          <p:cNvSpPr txBox="1"/>
          <p:nvPr/>
        </p:nvSpPr>
        <p:spPr>
          <a:xfrm>
            <a:off x="1377810" y="7435909"/>
            <a:ext cx="3840481" cy="122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Audience</a:t>
            </a:r>
          </a:p>
        </p:txBody>
      </p:sp>
      <p:sp>
        <p:nvSpPr>
          <p:cNvPr id="34" name="Linguists new to Japanese corpora…"/>
          <p:cNvSpPr txBox="1"/>
          <p:nvPr/>
        </p:nvSpPr>
        <p:spPr>
          <a:xfrm>
            <a:off x="2074195" y="9175387"/>
            <a:ext cx="15474661" cy="2532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914400" indent="-914400">
              <a:buSzPct val="125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Linguists new to Japanese corpora</a:t>
            </a:r>
          </a:p>
          <a:p>
            <a:pPr marL="914400" indent="-914400">
              <a:buSzPct val="125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Those interested in Japanese NLP annotation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39" name="Today, you will…"/>
          <p:cNvSpPr txBox="1"/>
          <p:nvPr/>
        </p:nvSpPr>
        <p:spPr>
          <a:xfrm>
            <a:off x="1029618" y="1604762"/>
            <a:ext cx="6721793" cy="122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Today, you will…</a:t>
            </a:r>
          </a:p>
        </p:txBody>
      </p:sp>
      <p:sp>
        <p:nvSpPr>
          <p:cNvPr id="40" name="Discover what corpora are available…"/>
          <p:cNvSpPr txBox="1"/>
          <p:nvPr/>
        </p:nvSpPr>
        <p:spPr>
          <a:xfrm>
            <a:off x="1726002" y="3344241"/>
            <a:ext cx="16386567" cy="8398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914400" indent="-914400">
              <a:spcBef>
                <a:spcPts val="4000"/>
              </a:spcBef>
              <a:buSzPct val="100000"/>
              <a:buAutoNum type="arabicPeriod" startAt="1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Discover what corpora are available</a:t>
            </a:r>
          </a:p>
          <a:p>
            <a:pPr marL="914400" indent="-914400">
              <a:spcBef>
                <a:spcPts val="4000"/>
              </a:spcBef>
              <a:buSzPct val="100000"/>
              <a:buAutoNum type="arabicPeriod" startAt="1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Apply and/or log in</a:t>
            </a:r>
          </a:p>
          <a:p>
            <a:pPr marL="914400" indent="-914400">
              <a:spcBef>
                <a:spcPts val="4000"/>
              </a:spcBef>
              <a:buSzPct val="100000"/>
              <a:buAutoNum type="arabicPeriod" startAt="1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Search terms via the 日本語日常会話コーパス (Corpus of Everyday Japanese Conversation)</a:t>
            </a:r>
          </a:p>
          <a:p>
            <a:pPr marL="914400" indent="-914400">
              <a:spcBef>
                <a:spcPts val="4000"/>
              </a:spcBef>
              <a:buSzPct val="100000"/>
              <a:buAutoNum type="arabicPeriod" startAt="1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Export results as a CSV</a:t>
            </a:r>
          </a:p>
          <a:p>
            <a:pPr marL="914400" indent="-914400">
              <a:spcBef>
                <a:spcPts val="4000"/>
              </a:spcBef>
              <a:buSzPct val="100000"/>
              <a:buAutoNum type="arabicPeriod" startAt="1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Do quick bigram/trigram analysis with Python code (I will provide you with the code)</a:t>
            </a:r>
          </a:p>
        </p:txBody>
      </p:sp>
      <p:pic>
        <p:nvPicPr>
          <p:cNvPr id="41" name="qrcode_github.com.png" descr="qrcode_github.com.png"/>
          <p:cNvPicPr>
            <a:picLocks noChangeAspect="1"/>
          </p:cNvPicPr>
          <p:nvPr/>
        </p:nvPicPr>
        <p:blipFill>
          <a:blip r:embed="rId2">
            <a:extLst/>
          </a:blip>
          <a:srcRect l="6625" t="6870" r="6625" b="6870"/>
          <a:stretch>
            <a:fillRect/>
          </a:stretch>
        </p:blipFill>
        <p:spPr>
          <a:xfrm>
            <a:off x="18703991" y="2614036"/>
            <a:ext cx="4957653" cy="4929743"/>
          </a:xfrm>
          <a:prstGeom prst="rect">
            <a:avLst/>
          </a:prstGeom>
          <a:ln w="12700">
            <a:miter lim="400000"/>
          </a:ln>
        </p:spPr>
      </p:pic>
      <p:sp>
        <p:nvSpPr>
          <p:cNvPr id="42" name="Workshop Files"/>
          <p:cNvSpPr txBox="1"/>
          <p:nvPr/>
        </p:nvSpPr>
        <p:spPr>
          <a:xfrm>
            <a:off x="18791006" y="1865015"/>
            <a:ext cx="382828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 sz="4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lvl1pPr>
          </a:lstStyle>
          <a:p>
            <a:pPr/>
            <a:r>
              <a:t>Workshop Files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45" name="What is Chunagon?"/>
          <p:cNvSpPr txBox="1"/>
          <p:nvPr/>
        </p:nvSpPr>
        <p:spPr>
          <a:xfrm>
            <a:off x="1029618" y="1604762"/>
            <a:ext cx="7967663" cy="122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What is Chunagon?</a:t>
            </a:r>
          </a:p>
        </p:txBody>
      </p:sp>
      <p:sp>
        <p:nvSpPr>
          <p:cNvPr id="46" name="Web application by NINJAL for searching Japanese corpora…"/>
          <p:cNvSpPr txBox="1"/>
          <p:nvPr/>
        </p:nvSpPr>
        <p:spPr>
          <a:xfrm>
            <a:off x="1726002" y="3344241"/>
            <a:ext cx="15625941" cy="70536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914400" indent="-914400">
              <a:spcBef>
                <a:spcPts val="40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Web application by NINJAL for searching Japanese corpora</a:t>
            </a:r>
          </a:p>
          <a:p>
            <a:pPr marL="914400" indent="-914400">
              <a:spcBef>
                <a:spcPts val="40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Supports simple string search and morphology-aware search (varies by corpus)</a:t>
            </a:r>
          </a:p>
          <a:p>
            <a:pPr marL="914400" indent="-914400">
              <a:spcBef>
                <a:spcPts val="40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Key idea: searches are often over tokenized / annotated units, not “words” as you’d intuit them</a:t>
            </a:r>
          </a:p>
        </p:txBody>
      </p:sp>
      <p:pic>
        <p:nvPicPr>
          <p:cNvPr id="4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650180" y="3668850"/>
            <a:ext cx="6350001" cy="2870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630369" y="7982974"/>
            <a:ext cx="4389624" cy="20902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51" name="Screenshot 2026-01-20 at 10.04.37 PM.png" descr="Screenshot 2026-01-20 at 10.04.37 PM.png"/>
          <p:cNvPicPr>
            <a:picLocks noChangeAspect="1"/>
          </p:cNvPicPr>
          <p:nvPr/>
        </p:nvPicPr>
        <p:blipFill>
          <a:blip r:embed="rId3">
            <a:extLst/>
          </a:blip>
          <a:srcRect l="129" t="0" r="0" b="0"/>
          <a:stretch>
            <a:fillRect/>
          </a:stretch>
        </p:blipFill>
        <p:spPr>
          <a:xfrm>
            <a:off x="2349301" y="1292555"/>
            <a:ext cx="19685353" cy="117405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56" name="Access"/>
          <p:cNvSpPr txBox="1"/>
          <p:nvPr/>
        </p:nvSpPr>
        <p:spPr>
          <a:xfrm>
            <a:off x="1029618" y="1604762"/>
            <a:ext cx="3078481" cy="122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Access</a:t>
            </a:r>
          </a:p>
        </p:txBody>
      </p:sp>
      <p:sp>
        <p:nvSpPr>
          <p:cNvPr id="57" name="You will first need to create a Chunagon account…"/>
          <p:cNvSpPr txBox="1"/>
          <p:nvPr/>
        </p:nvSpPr>
        <p:spPr>
          <a:xfrm>
            <a:off x="1726002" y="3344241"/>
            <a:ext cx="8088611" cy="4843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914400" indent="-914400">
              <a:spcBef>
                <a:spcPts val="40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You will first need to create a Chunagon account</a:t>
            </a:r>
          </a:p>
          <a:p>
            <a:pPr marL="914400" indent="-914400">
              <a:spcBef>
                <a:spcPts val="40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Then you can apply for specific corpora</a:t>
            </a:r>
          </a:p>
        </p:txBody>
      </p:sp>
      <p:pic>
        <p:nvPicPr>
          <p:cNvPr id="58" name="Screenshot 2026-01-20 at 10.08.04 PM.png" descr="Screenshot 2026-01-20 at 10.08.04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623197" y="2978281"/>
            <a:ext cx="13106401" cy="8369301"/>
          </a:xfrm>
          <a:prstGeom prst="rect">
            <a:avLst/>
          </a:prstGeom>
          <a:ln w="25400">
            <a:solidFill>
              <a:srgbClr val="000000"/>
            </a:solidFill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3" name="Logging in"/>
          <p:cNvSpPr txBox="1"/>
          <p:nvPr/>
        </p:nvSpPr>
        <p:spPr>
          <a:xfrm>
            <a:off x="1029618" y="1604762"/>
            <a:ext cx="4192906" cy="122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Logging in</a:t>
            </a:r>
          </a:p>
        </p:txBody>
      </p:sp>
      <p:sp>
        <p:nvSpPr>
          <p:cNvPr id="64" name="Once you have access, you can login on this page:"/>
          <p:cNvSpPr txBox="1"/>
          <p:nvPr/>
        </p:nvSpPr>
        <p:spPr>
          <a:xfrm>
            <a:off x="1726002" y="3344241"/>
            <a:ext cx="7872315" cy="263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914400" indent="-914400">
              <a:spcBef>
                <a:spcPts val="40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Once you have access, you can login on this page:</a:t>
            </a:r>
          </a:p>
        </p:txBody>
      </p:sp>
      <p:pic>
        <p:nvPicPr>
          <p:cNvPr id="65" name="Screenshot 2026-01-20 at 10.10.04 PM.png" descr="Screenshot 2026-01-20 at 10.10.04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10842" y="1098681"/>
            <a:ext cx="17246601" cy="12128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qrcode_chunagon.ninjal.ac.jp.png" descr="qrcode_chunagon.ninjal.ac.jp.png"/>
          <p:cNvPicPr>
            <a:picLocks noChangeAspect="1"/>
          </p:cNvPicPr>
          <p:nvPr/>
        </p:nvPicPr>
        <p:blipFill>
          <a:blip r:embed="rId3">
            <a:extLst/>
          </a:blip>
          <a:srcRect l="6868" t="6328" r="6868" b="6328"/>
          <a:stretch>
            <a:fillRect/>
          </a:stretch>
        </p:blipFill>
        <p:spPr>
          <a:xfrm>
            <a:off x="2600511" y="6455589"/>
            <a:ext cx="5945497" cy="60199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9" name="What is KOTONOHA?"/>
          <p:cNvSpPr txBox="1"/>
          <p:nvPr/>
        </p:nvSpPr>
        <p:spPr>
          <a:xfrm>
            <a:off x="1029618" y="1604762"/>
            <a:ext cx="8762048" cy="122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What is KOTONOHA?</a:t>
            </a:r>
          </a:p>
        </p:txBody>
      </p:sp>
      <p:sp>
        <p:nvSpPr>
          <p:cNvPr id="70" name="Use it to quickly compare/search across corpora at a high level…"/>
          <p:cNvSpPr txBox="1"/>
          <p:nvPr/>
        </p:nvSpPr>
        <p:spPr>
          <a:xfrm>
            <a:off x="1726002" y="3344241"/>
            <a:ext cx="9268506" cy="3992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914400" indent="-914400">
              <a:spcBef>
                <a:spcPts val="40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Use it to quickly compare/search across corpora at a high level</a:t>
            </a:r>
          </a:p>
          <a:p>
            <a:pPr marL="914400" indent="-914400">
              <a:spcBef>
                <a:spcPts val="40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Let’s try…</a:t>
            </a:r>
          </a:p>
        </p:txBody>
      </p:sp>
      <p:pic>
        <p:nvPicPr>
          <p:cNvPr id="71" name="Screenshot 2026-01-20 at 10.18.24 PM.png" descr="Screenshot 2026-01-20 at 10.18.24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05734" y="1225681"/>
            <a:ext cx="18338801" cy="11874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76" name="Let’s use CEJC"/>
          <p:cNvSpPr txBox="1"/>
          <p:nvPr/>
        </p:nvSpPr>
        <p:spPr>
          <a:xfrm>
            <a:off x="1029618" y="1604762"/>
            <a:ext cx="6230303" cy="122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Let’s use CEJC</a:t>
            </a:r>
          </a:p>
        </p:txBody>
      </p:sp>
      <p:sp>
        <p:nvSpPr>
          <p:cNvPr id="77" name="Try searching the following terms. Did you have any issues?…"/>
          <p:cNvSpPr txBox="1"/>
          <p:nvPr/>
        </p:nvSpPr>
        <p:spPr>
          <a:xfrm>
            <a:off x="1726002" y="3344241"/>
            <a:ext cx="9268506" cy="699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914400" indent="-914400">
              <a:spcBef>
                <a:spcPts val="40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Try searching the following terms. Did you have any issues?</a:t>
            </a:r>
          </a:p>
          <a:p>
            <a:pPr lvl="1" marL="1828800" indent="-914400">
              <a:spcBef>
                <a:spcPts val="4000"/>
              </a:spcBef>
              <a:buSzPct val="100000"/>
              <a:buChar char="❖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パソコン</a:t>
            </a:r>
          </a:p>
          <a:p>
            <a:pPr lvl="1" marL="1828800" indent="-914400">
              <a:spcBef>
                <a:spcPts val="4000"/>
              </a:spcBef>
              <a:buSzPct val="100000"/>
              <a:buChar char="❖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である</a:t>
            </a:r>
          </a:p>
          <a:p>
            <a:pPr lvl="1" marL="1828800" indent="-914400">
              <a:spcBef>
                <a:spcPts val="4000"/>
              </a:spcBef>
              <a:buSzPct val="100000"/>
              <a:buChar char="❖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かっこいい</a:t>
            </a:r>
          </a:p>
        </p:txBody>
      </p:sp>
      <p:pic>
        <p:nvPicPr>
          <p:cNvPr id="78" name="Screenshot 2026-01-20 at 10.33.15 PM.png" descr="Screenshot 2026-01-20 at 10.33.15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27469" y="1225681"/>
            <a:ext cx="18592801" cy="11874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83" name="Let’s use CEJC"/>
          <p:cNvSpPr txBox="1"/>
          <p:nvPr/>
        </p:nvSpPr>
        <p:spPr>
          <a:xfrm>
            <a:off x="1029618" y="1604762"/>
            <a:ext cx="6230303" cy="122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Let’s use CEJC</a:t>
            </a:r>
          </a:p>
        </p:txBody>
      </p:sp>
      <p:sp>
        <p:nvSpPr>
          <p:cNvPr id="84" name="Try searching the following terms. Did you have any issues?…"/>
          <p:cNvSpPr txBox="1"/>
          <p:nvPr/>
        </p:nvSpPr>
        <p:spPr>
          <a:xfrm>
            <a:off x="1726002" y="3344241"/>
            <a:ext cx="9268506" cy="699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914400" indent="-914400">
              <a:spcBef>
                <a:spcPts val="40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Try searching the following terms. Did you have any issues?</a:t>
            </a:r>
          </a:p>
          <a:p>
            <a:pPr lvl="1" marL="1828800" indent="-914400">
              <a:spcBef>
                <a:spcPts val="4000"/>
              </a:spcBef>
              <a:buSzPct val="100000"/>
              <a:buChar char="❖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パソコン</a:t>
            </a:r>
          </a:p>
          <a:p>
            <a:pPr lvl="1" marL="1828800" indent="-914400">
              <a:spcBef>
                <a:spcPts val="4000"/>
              </a:spcBef>
              <a:buSzPct val="100000"/>
              <a:buChar char="❖"/>
              <a:defRPr b="1" sz="5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である</a:t>
            </a:r>
          </a:p>
          <a:p>
            <a:pPr lvl="1" marL="1828800" indent="-914400">
              <a:spcBef>
                <a:spcPts val="4000"/>
              </a:spcBef>
              <a:buSzPct val="100000"/>
              <a:buChar char="❖"/>
              <a:defRPr b="1" sz="5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かっこいい</a:t>
            </a:r>
          </a:p>
        </p:txBody>
      </p:sp>
      <p:pic>
        <p:nvPicPr>
          <p:cNvPr id="85" name="Screenshot 2026-01-20 at 10.33.15 PM.png" descr="Screenshot 2026-01-20 at 10.33.15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927468" y="1225681"/>
            <a:ext cx="18592801" cy="11874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0" name="Let’s use CEJC"/>
          <p:cNvSpPr txBox="1"/>
          <p:nvPr/>
        </p:nvSpPr>
        <p:spPr>
          <a:xfrm>
            <a:off x="1029618" y="1604762"/>
            <a:ext cx="6230303" cy="122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Let’s use CEJC</a:t>
            </a:r>
          </a:p>
        </p:txBody>
      </p:sp>
      <p:sp>
        <p:nvSpPr>
          <p:cNvPr id="91" name="Try searching the following terms. Did you have any issues?…"/>
          <p:cNvSpPr txBox="1"/>
          <p:nvPr/>
        </p:nvSpPr>
        <p:spPr>
          <a:xfrm>
            <a:off x="1726002" y="3344241"/>
            <a:ext cx="9268506" cy="699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914400" indent="-914400">
              <a:spcBef>
                <a:spcPts val="40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Try searching the following terms. Did you have any issues?</a:t>
            </a:r>
          </a:p>
          <a:p>
            <a:pPr lvl="1" marL="1828800" indent="-914400">
              <a:spcBef>
                <a:spcPts val="4000"/>
              </a:spcBef>
              <a:buSzPct val="100000"/>
              <a:buChar char="❖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パソコン</a:t>
            </a:r>
          </a:p>
          <a:p>
            <a:pPr lvl="1" marL="1828800" indent="-914400">
              <a:spcBef>
                <a:spcPts val="4000"/>
              </a:spcBef>
              <a:buSzPct val="100000"/>
              <a:buChar char="❖"/>
              <a:defRPr b="1" sz="5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である</a:t>
            </a:r>
          </a:p>
          <a:p>
            <a:pPr lvl="1" marL="1828800" indent="-914400">
              <a:spcBef>
                <a:spcPts val="4000"/>
              </a:spcBef>
              <a:buSzPct val="100000"/>
              <a:buChar char="❖"/>
              <a:defRPr b="1" sz="5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かっこいい</a:t>
            </a:r>
          </a:p>
        </p:txBody>
      </p:sp>
      <p:pic>
        <p:nvPicPr>
          <p:cNvPr id="92" name="Screenshot 2026-01-20 at 10.49.40 PM.png" descr="Screenshot 2026-01-20 at 10.49.40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555331" y="1871579"/>
            <a:ext cx="11910311" cy="47924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97" name="Let’s use CEJC"/>
          <p:cNvSpPr txBox="1"/>
          <p:nvPr/>
        </p:nvSpPr>
        <p:spPr>
          <a:xfrm>
            <a:off x="1029618" y="1604762"/>
            <a:ext cx="6230303" cy="122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Let’s use CEJC</a:t>
            </a:r>
          </a:p>
        </p:txBody>
      </p:sp>
      <p:sp>
        <p:nvSpPr>
          <p:cNvPr id="98" name="Try searching the following terms. Did you have any issues?…"/>
          <p:cNvSpPr txBox="1"/>
          <p:nvPr/>
        </p:nvSpPr>
        <p:spPr>
          <a:xfrm>
            <a:off x="1726002" y="3344241"/>
            <a:ext cx="9268506" cy="6991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914400" indent="-914400">
              <a:spcBef>
                <a:spcPts val="40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Try searching the following terms. Did you have any issues?</a:t>
            </a:r>
          </a:p>
          <a:p>
            <a:pPr lvl="1" marL="1828800" indent="-914400">
              <a:spcBef>
                <a:spcPts val="4000"/>
              </a:spcBef>
              <a:buSzPct val="100000"/>
              <a:buChar char="❖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パソコン</a:t>
            </a:r>
          </a:p>
          <a:p>
            <a:pPr lvl="1" marL="1828800" indent="-914400">
              <a:spcBef>
                <a:spcPts val="4000"/>
              </a:spcBef>
              <a:buSzPct val="100000"/>
              <a:buChar char="❖"/>
              <a:defRPr b="1" sz="5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である</a:t>
            </a:r>
          </a:p>
          <a:p>
            <a:pPr lvl="1" marL="1828800" indent="-914400">
              <a:spcBef>
                <a:spcPts val="4000"/>
              </a:spcBef>
              <a:buSzPct val="100000"/>
              <a:buChar char="❖"/>
              <a:defRPr b="1" sz="5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defRPr>
            </a:pPr>
            <a:r>
              <a:t>かっこいい</a:t>
            </a:r>
          </a:p>
        </p:txBody>
      </p:sp>
      <p:pic>
        <p:nvPicPr>
          <p:cNvPr id="99" name="Screenshot 2026-01-20 at 10.49.40 PM.png" descr="Screenshot 2026-01-20 at 10.49.40 P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555331" y="1871579"/>
            <a:ext cx="11910311" cy="479243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Screenshot 2026-01-20 at 10.51.14 PM.png" descr="Screenshot 2026-01-20 at 10.51.14 PM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543213" y="7443770"/>
            <a:ext cx="12880930" cy="47924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05" name="Let’s use CEJC"/>
          <p:cNvSpPr txBox="1"/>
          <p:nvPr/>
        </p:nvSpPr>
        <p:spPr>
          <a:xfrm>
            <a:off x="1029618" y="1604762"/>
            <a:ext cx="6230303" cy="122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Let’s use CEJC</a:t>
            </a:r>
          </a:p>
        </p:txBody>
      </p:sp>
      <p:sp>
        <p:nvSpPr>
          <p:cNvPr id="106" name="Of course, this is made easier using the multi-text search bar"/>
          <p:cNvSpPr txBox="1"/>
          <p:nvPr/>
        </p:nvSpPr>
        <p:spPr>
          <a:xfrm>
            <a:off x="1726002" y="3344241"/>
            <a:ext cx="9268506" cy="2634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914400" indent="-914400">
              <a:spcBef>
                <a:spcPts val="40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Of course, this is made easier using the multi-text search bar</a:t>
            </a:r>
          </a:p>
        </p:txBody>
      </p:sp>
      <p:pic>
        <p:nvPicPr>
          <p:cNvPr id="107" name="Screenshot 2026-01-20 at 10.54.31 PM.png" descr="Screenshot 2026-01-20 at 10.54.31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28934" y="1225681"/>
            <a:ext cx="18592801" cy="118745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0" name="Let’s use CEJC"/>
          <p:cNvSpPr txBox="1"/>
          <p:nvPr/>
        </p:nvSpPr>
        <p:spPr>
          <a:xfrm>
            <a:off x="1029618" y="1604762"/>
            <a:ext cx="6230303" cy="122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Let’s use CEJC</a:t>
            </a:r>
          </a:p>
        </p:txBody>
      </p:sp>
      <p:sp>
        <p:nvSpPr>
          <p:cNvPr id="111" name="What if I wanted to look for expressions like the following:  よくない ご飯 野球選手 良ければ"/>
          <p:cNvSpPr txBox="1"/>
          <p:nvPr/>
        </p:nvSpPr>
        <p:spPr>
          <a:xfrm>
            <a:off x="1726002" y="3344241"/>
            <a:ext cx="16356967" cy="69369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914400" indent="-914400">
              <a:spcBef>
                <a:spcPts val="40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What if I wanted to look for expressions like the following:</a:t>
            </a:r>
            <a:br/>
            <a:br/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よくない</a:t>
            </a:r>
            <a:br>
              <a:rPr b="1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ご飯</a:t>
            </a:r>
            <a:br>
              <a:rPr b="1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野球選手</a:t>
            </a:r>
            <a:br>
              <a:rPr b="1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良ければ</a:t>
            </a:r>
          </a:p>
        </p:txBody>
      </p:sp>
      <p:sp>
        <p:nvSpPr>
          <p:cNvPr id="112" name="飲んだりして お寿司 かもしれない 行っ＿"/>
          <p:cNvSpPr txBox="1"/>
          <p:nvPr/>
        </p:nvSpPr>
        <p:spPr>
          <a:xfrm>
            <a:off x="10990299" y="5869374"/>
            <a:ext cx="4305301" cy="43842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spcBef>
                <a:spcPts val="4000"/>
              </a:spcBef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飲んだりして</a:t>
            </a:r>
            <a:br>
              <a:rPr b="1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お寿司</a:t>
            </a:r>
            <a:br>
              <a:rPr b="1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かもしれない</a:t>
            </a:r>
            <a:br>
              <a:rPr b="1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>
                <a:latin typeface="Helvetica Neue"/>
                <a:ea typeface="Helvetica Neue"/>
                <a:cs typeface="Helvetica Neue"/>
                <a:sym typeface="Helvetica Neue"/>
              </a:rPr>
              <a:t>行っ＿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lide Number"/>
          <p:cNvSpPr txBox="1"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17" name="Case study: Calculate Collocations"/>
          <p:cNvSpPr txBox="1"/>
          <p:nvPr/>
        </p:nvSpPr>
        <p:spPr>
          <a:xfrm>
            <a:off x="1029618" y="1604762"/>
            <a:ext cx="13916026" cy="122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Case study: Calculate Collocations</a:t>
            </a:r>
          </a:p>
        </p:txBody>
      </p:sp>
      <p:sp>
        <p:nvSpPr>
          <p:cNvPr id="118" name="We want to know how L1 Japanese speakers use the phrase じゃ in idle chit-chat.…"/>
          <p:cNvSpPr txBox="1"/>
          <p:nvPr/>
        </p:nvSpPr>
        <p:spPr>
          <a:xfrm>
            <a:off x="1726002" y="3344241"/>
            <a:ext cx="16356967" cy="86514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marL="914400" indent="-914400">
              <a:spcBef>
                <a:spcPts val="26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We want to know how L1 Japanese speakers use the phrase じゃ in idle chit-chat.</a:t>
            </a:r>
          </a:p>
          <a:p>
            <a:pPr marL="914400" indent="-914400">
              <a:spcBef>
                <a:spcPts val="26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After you locate all instances of this phrase, export the file and calculate/observe the following:</a:t>
            </a:r>
          </a:p>
          <a:p>
            <a:pPr lvl="1" marL="1828800" indent="-914400">
              <a:spcBef>
                <a:spcPts val="2600"/>
              </a:spcBef>
              <a:buSzPct val="100000"/>
              <a:buChar char="❖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What POS typically comes before じゃ? After?</a:t>
            </a:r>
          </a:p>
          <a:p>
            <a:pPr lvl="1" marL="1828800" indent="-914400">
              <a:spcBef>
                <a:spcPts val="900"/>
              </a:spcBef>
              <a:buSzPct val="100000"/>
              <a:buChar char="❖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What bigram/trigram collocations exist with this phrase?</a:t>
            </a:r>
          </a:p>
          <a:p>
            <a:pPr lvl="1" marL="1828800" indent="-914400">
              <a:spcBef>
                <a:spcPts val="2600"/>
              </a:spcBef>
              <a:buSzPct val="100000"/>
              <a:buChar char="❖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t>What do these results tell us about じゃ?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lide Number"/>
          <p:cNvSpPr txBox="1"/>
          <p:nvPr>
            <p:ph type="sldNum" sz="quarter" idx="2"/>
          </p:nvPr>
        </p:nvSpPr>
        <p:spPr>
          <a:xfrm>
            <a:off x="21637536" y="13015962"/>
            <a:ext cx="1542390" cy="58552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23" name="Q&amp;A"/>
          <p:cNvSpPr txBox="1"/>
          <p:nvPr/>
        </p:nvSpPr>
        <p:spPr>
          <a:xfrm>
            <a:off x="1029618" y="1604762"/>
            <a:ext cx="1949768" cy="12296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5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pPr/>
            <a:r>
              <a:t>Q&amp;A</a:t>
            </a:r>
          </a:p>
        </p:txBody>
      </p:sp>
      <p:sp>
        <p:nvSpPr>
          <p:cNvPr id="124" name="Any questions or comments?"/>
          <p:cNvSpPr txBox="1"/>
          <p:nvPr/>
        </p:nvSpPr>
        <p:spPr>
          <a:xfrm>
            <a:off x="1726002" y="3344241"/>
            <a:ext cx="16356967" cy="932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marL="914400" indent="-914400">
              <a:spcBef>
                <a:spcPts val="4000"/>
              </a:spcBef>
              <a:buSzPct val="100000"/>
              <a:buChar char="‣"/>
              <a:defRPr sz="55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r>
              <a:t>Any questions or comments?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